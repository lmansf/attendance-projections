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Mid case (450 MAE, 40% capture)</c:v>
                </c:pt>
              </c:strCache>
            </c:strRef>
          </c:tx>
          <c:spPr>
            <a:solidFill>
              <a:srgbClr val="1268C8"/>
            </a:solidFill>
            <a:ln w="38100" cap="flat">
              <a:solidFill>
                <a:srgbClr val="1268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268C8"/>
              </a:solidFill>
              <a:ln w="9525" cap="flat">
                <a:solidFill>
                  <a:srgbClr val="1268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-50</c:v>
                </c:pt>
                <c:pt idx="2">
                  <c:v>-25</c:v>
                </c:pt>
                <c:pt idx="3">
                  <c:v>24</c:v>
                </c:pt>
                <c:pt idx="4">
                  <c:v>73</c:v>
                </c:pt>
                <c:pt idx="5">
                  <c:v>122</c:v>
                </c:pt>
                <c:pt idx="6">
                  <c:v>172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Conservative (model only reaches 650 MAE, 30%)</c:v>
                </c:pt>
              </c:strCache>
            </c:strRef>
          </c:tx>
          <c:spPr>
            <a:solidFill>
              <a:srgbClr val="B3790A"/>
            </a:solidFill>
            <a:ln w="38100" cap="flat">
              <a:solidFill>
                <a:srgbClr val="B379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3790A"/>
              </a:solidFill>
              <a:ln w="9525" cap="flat">
                <a:solidFill>
                  <a:srgbClr val="B379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-50</c:v>
                </c:pt>
                <c:pt idx="2">
                  <c:v>-41</c:v>
                </c:pt>
                <c:pt idx="3">
                  <c:v>-24</c:v>
                </c:pt>
                <c:pt idx="4">
                  <c:v>-6</c:v>
                </c:pt>
                <c:pt idx="5">
                  <c:v>12</c:v>
                </c:pt>
                <c:pt idx="6">
                  <c:v>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5674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5674E"/>
                    </a:solidFill>
                    <a:latin typeface="Arial"/>
                  </a:rPr>
                  <a:t>Months from funding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67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6D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5674E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5674E"/>
                    </a:solidFill>
                    <a:latin typeface="Arial"/>
                  </a:rPr>
                  <a:t>Cumulative net, $k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674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2F1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FOR REVIEW — VP, BUSINESS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forecast that pays for the schedule it writes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Month-ahead attendance forecasting for the labor lock, week-ahead for adjustments and ad spend — phase-gated, measured against our own incumbent before operations changes anything.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+ full production guide in repo:  </a:t>
            </a:r>
            <a:pPr indent="0" marL="0">
              <a:buNone/>
            </a:pPr>
            <a:r>
              <a:rPr lang="en-US" sz="1200" dirty="0">
                <a:solidFill>
                  <a:srgbClr val="D8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github.com/lmansf/Attendance-Projections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 locks a month out — on a 947 miss.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75488" cy="475488"/>
          </a:xfrm>
          <a:prstGeom prst="ellipse">
            <a:avLst/>
          </a:prstGeom>
          <a:solidFill>
            <a:srgbClr val="1268C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197" y="2125797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659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budgets commit ~30 days out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2295144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zoo plans rosters and labor for ~300 employees a month ahead — so the model's headline horizon is month-ahead, matching that lock.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475488" cy="475488"/>
          </a:xfrm>
          <a:prstGeom prst="ellipse">
            <a:avLst/>
          </a:prstGeom>
          <a:solidFill>
            <a:srgbClr val="1268C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7" y="3543117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3832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 and ad spend at ~7 days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3712464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 tweaks and media buys key on a week-ahead forecast; promos need soft days flagged early enough to act.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846320"/>
            <a:ext cx="475488" cy="475488"/>
          </a:xfrm>
          <a:prstGeom prst="ellipse">
            <a:avLst/>
          </a:prstGeom>
          <a:solidFill>
            <a:srgbClr val="1268C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97" y="4960437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8006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miss is measured, and it is large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25880" y="5129784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our own 10/2017–7/2026 history, current projections average a 947-guest daily miss (MAE) — a 29% error on a 3,285-guest average day.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406640" y="1920240"/>
            <a:ext cx="4114800" cy="4206240"/>
          </a:xfrm>
          <a:prstGeom prst="roundRect">
            <a:avLst>
              <a:gd name="adj" fmla="val 2667"/>
            </a:avLst>
          </a:prstGeom>
          <a:solidFill>
            <a:srgbClr val="F1E8D2"/>
          </a:solidFill>
          <a:ln/>
        </p:spPr>
      </p:sp>
      <p:sp>
        <p:nvSpPr>
          <p:cNvPr id="17" name="Text 12"/>
          <p:cNvSpPr/>
          <p:nvPr/>
        </p:nvSpPr>
        <p:spPr>
          <a:xfrm>
            <a:off x="7726680" y="2194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947-guest average miss costs, daily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26680" y="2743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2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±29%</a:t>
            </a:r>
            <a:endParaRPr lang="en-US" sz="5400" dirty="0"/>
          </a:p>
        </p:txBody>
      </p:sp>
      <p:sp>
        <p:nvSpPr>
          <p:cNvPr id="19" name="Text 14"/>
          <p:cNvSpPr/>
          <p:nvPr/>
        </p:nvSpPr>
        <p:spPr>
          <a:xfrm>
            <a:off x="772668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rate — measured, not guessed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726680" y="4114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 staff-hours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7726680" y="4663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against the wrong number every day — roughly twelve 8-hour shifts (at ~10 guests served per scalable staff-hour, our one estimated input)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Forecasting — BI review</a:t>
            </a:r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VALUE, IN OUR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Halving the miss: ~$86k–$143k a year.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3949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34440"/>
                <a:gridCol w="16916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56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56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756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daily attendance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measured, from ticketing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Incumbent 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947 guests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measured, 10/2017–7/2026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MAE (target)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 guests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24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— Phase 0 validates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Guests / scalable staff-hour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24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 — to confirm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 cost / staff-hour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 wage + ~20% 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days /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calendar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shifts, fixed posts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horizon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month-ahead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2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the labor 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6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497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89720" y="19659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mis-forecast guests per day (947 → 450)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75120" y="25420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6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hrs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89720" y="25877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staff-hours re-aimed daily (÷ 10 guests/staff-hour)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75120" y="31638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6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$895 / day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89720" y="32095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$18 loaded rate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75120" y="3785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6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~$286k / yr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189720" y="38313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misallocation removed (× 320 days)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75120" y="4572000"/>
            <a:ext cx="4892040" cy="1371600"/>
          </a:xfrm>
          <a:prstGeom prst="roundRect">
            <a:avLst>
              <a:gd name="adj" fmla="val 8000"/>
            </a:avLst>
          </a:prstGeom>
          <a:solidFill>
            <a:srgbClr val="2B2013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0" y="4754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$86k–$143k / yr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949440" y="5303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at a 30–50% scheduling capture rate — every row above is a live slider in the Power BI what-if.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6080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range, never a point: the incumbent side is measured; Phase 0 validates the model side on nine seasons of our own data.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Forecasting — BI review</a:t>
            </a:r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 COSTS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Break-even ~month 15 in the mid case.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828800"/>
            <a:ext cx="3794760" cy="932688"/>
          </a:xfrm>
          <a:prstGeom prst="roundRect">
            <a:avLst>
              <a:gd name="adj" fmla="val 9804"/>
            </a:avLst>
          </a:prstGeom>
          <a:solidFill>
            <a:srgbClr val="F1E8D2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~$50k build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01000" y="221284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person-weeks, existing team; DuckDB path, one small VM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0" y="2898648"/>
            <a:ext cx="3794760" cy="932688"/>
          </a:xfrm>
          <a:prstGeom prst="roundRect">
            <a:avLst>
              <a:gd name="adj" fmla="val 9804"/>
            </a:avLst>
          </a:prstGeom>
          <a:solidFill>
            <a:srgbClr val="F1E8D2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29900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~$16k / yr run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01000" y="328269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FTE + Power BI Pro. US zoo: NWS weather is $0; no flight-schedule feed unless the backtest earns it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3968496"/>
            <a:ext cx="3794760" cy="932688"/>
          </a:xfrm>
          <a:prstGeom prst="roundRect">
            <a:avLst>
              <a:gd name="adj" fmla="val 9804"/>
            </a:avLst>
          </a:prstGeom>
          <a:solidFill>
            <a:srgbClr val="F1E8D2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40599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~month 15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01000" y="435254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case (~$114k/yr captured, net of run cost)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772400" y="5038344"/>
            <a:ext cx="3794760" cy="932688"/>
          </a:xfrm>
          <a:prstGeom prst="roundRect">
            <a:avLst>
              <a:gd name="adj" fmla="val 9804"/>
            </a:avLst>
          </a:prstGeom>
          <a:solidFill>
            <a:srgbClr val="F1E8D2"/>
          </a:solidFill>
          <a:ln/>
        </p:spPr>
      </p:sp>
      <p:sp>
        <p:nvSpPr>
          <p:cNvPr id="15" name="Text 12"/>
          <p:cNvSpPr/>
          <p:nvPr/>
        </p:nvSpPr>
        <p:spPr>
          <a:xfrm>
            <a:off x="8001000" y="51297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conservative case pays back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01000" y="542239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~month 26 if the model only closes a third of the gap — and if it can't beat 947 at all, Phase 0 kills it for ~$8k, not $50k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Forecasting — BI review</a:t>
            </a:r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Phase 0 and shadow. Nothing else, yet.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E8D2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14884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6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POC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46888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on our own ticketing extract. Go / no-go for ~$8k of 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9659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E8D2"/>
          </a:solidFill>
          <a:ln/>
        </p:spPr>
      </p:sp>
      <p:sp>
        <p:nvSpPr>
          <p:cNvPr id="9" name="Text 7"/>
          <p:cNvSpPr/>
          <p:nvPr/>
        </p:nvSpPr>
        <p:spPr>
          <a:xfrm>
            <a:off x="3675888" y="214884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6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SHADOW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75888" y="246888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2–5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75888" y="27889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forecasts logged and scored. Ops changes nothing. Gates signed before it starts.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9659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E8D2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214884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ASSISTED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46888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5–8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10528" y="27889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see the report at schedule lock, adjust freely, overrides logged.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0" y="196596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E8D2"/>
          </a:solidFill>
          <a:ln/>
        </p:spPr>
      </p:sp>
      <p:sp>
        <p:nvSpPr>
          <p:cNvPr id="17" name="Text 15"/>
          <p:cNvSpPr/>
          <p:nvPr/>
        </p:nvSpPr>
        <p:spPr>
          <a:xfrm>
            <a:off x="9345168" y="2148840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INTEGRATED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45168" y="246888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45168" y="2788920"/>
            <a:ext cx="2203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seeded from the forecast; manager keeps override; reversion gates active.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10908792" cy="1234440"/>
          </a:xfrm>
          <a:prstGeom prst="roundRect">
            <a:avLst>
              <a:gd name="adj" fmla="val 8889"/>
            </a:avLst>
          </a:prstGeom>
          <a:solidFill>
            <a:srgbClr val="2B201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846320"/>
            <a:ext cx="10268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kill point is priced.  </a:t>
            </a:r>
            <a:pPr indent="0" marL="0">
              <a:buNone/>
            </a:pPr>
            <a:r>
              <a:rPr lang="en-US" sz="1350" dirty="0">
                <a:solidFill>
                  <a:srgbClr val="D8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missed in shadow → stop; sunk cost is engineering time only, and operations never changed a thing. Funding today covers Phase 0 + shadow; the schedule template is not touched until the system beats our incumbent on our own data, at margins we sign in advance.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Forecasting — BI review</a:t>
            </a:r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 cold start.</a:t>
            </a:r>
            <a:endParaRPr lang="en-US" sz="3400" dirty="0"/>
          </a:p>
        </p:txBody>
      </p:sp>
      <p:pic>
        <p:nvPicPr>
          <p:cNvPr id="4" name="Image 0" descr="/home/user/Attendance-Projections/docs/deck/assets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394960" cy="3931920"/>
          </a:xfrm>
          <a:prstGeom prst="rect">
            <a:avLst/>
          </a:prstGeom>
          <a:effectLst>
            <a:outerShdw sx="100000" sy="100000" kx="0" ky="0" algn="bl" rotWithShape="0" blurRad="152400" dist="63500" dir="5400000">
              <a:srgbClr val="6B5B3E">
                <a:alpha val="4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92240" y="2011680"/>
            <a:ext cx="475488" cy="475488"/>
          </a:xfrm>
          <a:prstGeom prst="ellipse">
            <a:avLst/>
          </a:prstGeom>
          <a:solidFill>
            <a:srgbClr val="B3790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357" y="2125797"/>
            <a:ext cx="247254" cy="2472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7804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demo is live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178040" y="22860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exists end-to-end today: month-, week-, and day-ahead forecasts vs actual, an 80% planning band, and a labor-budget panel priced at the month-ahead lock.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92240" y="3383280"/>
            <a:ext cx="475488" cy="475488"/>
          </a:xfrm>
          <a:prstGeom prst="ellipse">
            <a:avLst/>
          </a:prstGeom>
          <a:solidFill>
            <a:srgbClr val="B3790A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357" y="3497397"/>
            <a:ext cx="247254" cy="2472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78040" y="3337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earned its seat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178040" y="3657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equal-weight LightGBM + Ridge + random-forest blend, picked by a reproducible 17-candidate backtest (single command; a neural net and 5 other families lost).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492240" y="4754880"/>
            <a:ext cx="475488" cy="475488"/>
          </a:xfrm>
          <a:prstGeom prst="ellipse">
            <a:avLst/>
          </a:prstGeom>
          <a:solidFill>
            <a:srgbClr val="B3790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357" y="4868997"/>
            <a:ext cx="247254" cy="24725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78040" y="4709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path is written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178040" y="50292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6-chapter guide in the repo: warehouse DDL, leakage-firewall feature contract, monitoring thresholds, and the Power BI DAX for every panel — reviewed for accuracy, coherence, and exec scrutiny.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Forecasting — BI review</a:t>
            </a:r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BI TEAM SPECIFICALLY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lands in our stack, not beside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475488" cy="475488"/>
          </a:xfrm>
          <a:prstGeom prst="ellipse">
            <a:avLst/>
          </a:prstGeom>
          <a:solidFill>
            <a:srgbClr val="1268C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197" y="2171517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24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native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308152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+ written DAX, incl. what-if sliders for guests/staff-hour and loaded rate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2057400"/>
            <a:ext cx="475488" cy="475488"/>
          </a:xfrm>
          <a:prstGeom prst="ellipse">
            <a:avLst/>
          </a:prstGeom>
          <a:solidFill>
            <a:srgbClr val="1268C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517" y="2171517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2624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mode, 1–2 refreshes/day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4343400" y="308152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licensing is enough; no DirectQuery, no gateway on the DuckDB/parquet path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0" y="2057400"/>
            <a:ext cx="475488" cy="475488"/>
          </a:xfrm>
          <a:prstGeom prst="ellipse">
            <a:avLst/>
          </a:prstGeom>
          <a:solidFill>
            <a:srgbClr val="1268C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837" y="2171517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0" y="26243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or DuckDB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046720" y="308152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Single-digit MB per park-year; raw → staging → marts, idempotent loads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114800"/>
            <a:ext cx="475488" cy="475488"/>
          </a:xfrm>
          <a:prstGeom prst="ellipse">
            <a:avLst/>
          </a:prstGeom>
          <a:solidFill>
            <a:srgbClr val="1268C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97" y="4228917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46817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guest PII, by design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40080" y="513892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counts only — fast security review, no DPIA, low vendor-risk tier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43400" y="4114800"/>
            <a:ext cx="475488" cy="475488"/>
          </a:xfrm>
          <a:prstGeom prst="ellipse">
            <a:avLst/>
          </a:prstGeom>
          <a:solidFill>
            <a:srgbClr val="1268C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517" y="4228917"/>
            <a:ext cx="247254" cy="24725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43400" y="46817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VM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4343400" y="513892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pipeline; scheduled jobs with quality gates and a fallback forecast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046720" y="4114800"/>
            <a:ext cx="475488" cy="475488"/>
          </a:xfrm>
          <a:prstGeom prst="ellipse">
            <a:avLst/>
          </a:prstGeom>
          <a:solidFill>
            <a:srgbClr val="1268C8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0837" y="4228917"/>
            <a:ext cx="247254" cy="24725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046720" y="46817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forecast history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8046720" y="513892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did we tell ops last Tuesday?” is a query, not an argument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Forecasting — BI review</a:t>
            </a:r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2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NOT CLAIMING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2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caveats, before anyone else finds them.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side is provisional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480560" y="19659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incumbent MAE (947) is measured on our own history; the 450 target is not yet — the demo runs on synthetic data. Phase 0 validates the model on our nine seasons before gates are set.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is still cash-negative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80560" y="30175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start ~month 9; mid-case break-even lands mid-year-2. If Phase 0 says the 450 target is fantasy, we stop at the kill point having spent engineering time only.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feature arrives late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80560" y="40690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Advance-booking snapshots start accumulating on day one and mature around month 10; shadow is judged without them, and the model only improves after the gates pass.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Month-ahead is the hardest horizon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51206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weather is knowable 30 days out, so the month-ahead model runs on calendar, seasonality, bookings, and flight schedules alone — its MAE will sit above the week-ahead model's. The 450 target is judged at this horizon because that is where labor locks.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172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2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breaks happen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80560" y="61722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2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closure or a viral season breaks any model. Built in: drift monitoring, a same-weekday fallback that always publishes, and band logic that discards broken-regime history.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Forecasting — BI review</a:t>
            </a:r>
            <a:pPr indent="0" marL="0">
              <a:buNone/>
            </a:pPr>
            <a:r>
              <a:rPr lang="en-US" sz="9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3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D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Phase 0: four weeks, our own data, a go/no-go with evidence.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ticketing extract — 10/2017 to 7/2026, nearly nine seasons of daily admissions; no integrations, no vendors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backtest re-run on our numbers: model vs our rule of thumb, out-of-fold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measured accuracy delta and a re-priced ROI table — then, and only then, the shadow decision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6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guide, and this deck:  </a:t>
            </a:r>
            <a:pPr indent="0" marL="0">
              <a:buNone/>
            </a:pPr>
            <a:r>
              <a:rPr lang="en-US" sz="1200" dirty="0">
                <a:solidFill>
                  <a:srgbClr val="D8C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github.com/lmansf/Attendance-Projections  ·  docs/production-guide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2026-08-26T19:23:46Z</dcterms:created>
  <dcterms:modified xsi:type="dcterms:W3CDTF">2026-08-26T19:23:46Z</dcterms:modified>
</cp:coreProperties>
</file>