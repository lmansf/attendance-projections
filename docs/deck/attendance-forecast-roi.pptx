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Mid case (450 MAE, 40% capture)</c:v>
                </c:pt>
              </c:strCache>
            </c:strRef>
          </c:tx>
          <c:spPr>
            <a:solidFill>
              <a:srgbClr val="1268C8"/>
            </a:solidFill>
            <a:ln w="38100" cap="flat">
              <a:solidFill>
                <a:srgbClr val="1268C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268C8"/>
              </a:solidFill>
              <a:ln w="9525" cap="flat">
                <a:solidFill>
                  <a:srgbClr val="1268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-50</c:v>
                </c:pt>
                <c:pt idx="2">
                  <c:v>-21</c:v>
                </c:pt>
                <c:pt idx="3">
                  <c:v>36</c:v>
                </c:pt>
                <c:pt idx="4">
                  <c:v>93</c:v>
                </c:pt>
                <c:pt idx="5">
                  <c:v>150</c:v>
                </c:pt>
                <c:pt idx="6">
                  <c:v>207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Conservative (model only reaches 650 MAE, 30%)</c:v>
                </c:pt>
              </c:strCache>
            </c:strRef>
          </c:tx>
          <c:spPr>
            <a:solidFill>
              <a:srgbClr val="B3790A"/>
            </a:solidFill>
            <a:ln w="38100" cap="flat">
              <a:solidFill>
                <a:srgbClr val="B379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790A"/>
              </a:solidFill>
              <a:ln w="9525" cap="flat">
                <a:solidFill>
                  <a:srgbClr val="B379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-50</c:v>
                </c:pt>
                <c:pt idx="2">
                  <c:v>-39</c:v>
                </c:pt>
                <c:pt idx="3">
                  <c:v>-18</c:v>
                </c:pt>
                <c:pt idx="4">
                  <c:v>3</c:v>
                </c:pt>
                <c:pt idx="5">
                  <c:v>24</c:v>
                </c:pt>
                <c:pt idx="6">
                  <c:v>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5674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75674E"/>
                    </a:solidFill>
                    <a:latin typeface="Arial"/>
                  </a:rPr>
                  <a:t>Months from funding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567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DE6D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5674E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75674E"/>
                    </a:solidFill>
                    <a:latin typeface="Arial"/>
                  </a:rPr>
                  <a:t>Cumulative net, $k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567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A2F1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· FOR REVIEW — VP, BUSINESS INTELLIGENCE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that pays for the schedule it writes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Month-ahead attendance forecasting for the labor lock, week-ahead for adjustments and ad spend — phase-gated, measured against our own incumbent before operations changes anything.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6035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 + full production guide in repo:  </a:t>
            </a:r>
            <a:pPr indent="0" marL="0">
              <a:buNone/>
            </a:pPr>
            <a:r>
              <a:rPr lang="en-US" sz="12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github.com/lmansf/Attendance-Projections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 locks a month out — on a 947 miss.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197" y="2125797"/>
            <a:ext cx="247254" cy="2472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9659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budgets commit ~30 days out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5880" y="229514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zoo plans rosters and labor for ~300 employees a month ahead — so the model's headline horizon is month-ahead, matching that lock.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97" y="3543117"/>
            <a:ext cx="247254" cy="24725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38328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Adjustments and ad spend at ~7 days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325880" y="371246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schedule tweaks and media buys key on a week-ahead forecast; promos need soft days flagged early enough to act.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84632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97" y="4960437"/>
            <a:ext cx="247254" cy="24725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480060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miss is measured, and it is large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325880" y="5129784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our own 10/2017–7/2026 history, current projections average a 947-guest daily miss (MAE) — a 29% error on a 3,285-guest average day.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406640" y="1920240"/>
            <a:ext cx="4114800" cy="4206240"/>
          </a:xfrm>
          <a:prstGeom prst="roundRect">
            <a:avLst>
              <a:gd name="adj" fmla="val 2667"/>
            </a:avLst>
          </a:prstGeom>
          <a:solidFill>
            <a:srgbClr val="F1E8D2"/>
          </a:solidFill>
          <a:ln/>
        </p:spPr>
      </p:sp>
      <p:sp>
        <p:nvSpPr>
          <p:cNvPr id="17" name="Text 12"/>
          <p:cNvSpPr/>
          <p:nvPr/>
        </p:nvSpPr>
        <p:spPr>
          <a:xfrm>
            <a:off x="772668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947-guest average miss costs, daily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7726680" y="274320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±29%</a:t>
            </a:r>
            <a:endParaRPr lang="en-US" sz="5400" dirty="0"/>
          </a:p>
        </p:txBody>
      </p:sp>
      <p:sp>
        <p:nvSpPr>
          <p:cNvPr id="19" name="Text 14"/>
          <p:cNvSpPr/>
          <p:nvPr/>
        </p:nvSpPr>
        <p:spPr>
          <a:xfrm>
            <a:off x="7726680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error rate — measured, not guessed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726680" y="4114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 staff-hours</a:t>
            </a:r>
            <a:endParaRPr lang="en-US" sz="2800" dirty="0"/>
          </a:p>
        </p:txBody>
      </p:sp>
      <p:sp>
        <p:nvSpPr>
          <p:cNvPr id="21" name="Text 16"/>
          <p:cNvSpPr/>
          <p:nvPr/>
        </p:nvSpPr>
        <p:spPr>
          <a:xfrm>
            <a:off x="7726680" y="46634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against the wrong number every day — roughly twelve 8-hour shifts (at ~10 guests served per scalable staff-hour, our one estimated input)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VALUE, IN OUR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Halving the miss: ~$98k–$163k a year.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34440"/>
                <a:gridCol w="16916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7567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daily attendance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measured, from ticketing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Incumbent MAE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 guests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measured, 10/2017–7/2026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MAE (target)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 guests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24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— Phase 0 validates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Guests / scalable staff-hour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D24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 — to confirm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 cost / staff-hour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 wage + ~20% load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days / 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year-round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30–50%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shifts, fixed posts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horizon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month-ahead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2F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labor 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C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67512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497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189720" y="19659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mis-forecast guests per day (947 → 450)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75120" y="2542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hrs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89720" y="25877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staff-hours re-aimed daily (÷ 10 guests/staff-hour)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675120" y="316382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$895 / day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189720" y="320954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$18 loaded rate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675120" y="37856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~$326k / yr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189720" y="383133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misallocation removed (× 364 days)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675120" y="4572000"/>
            <a:ext cx="4892040" cy="1371600"/>
          </a:xfrm>
          <a:prstGeom prst="roundRect">
            <a:avLst>
              <a:gd name="adj" fmla="val 8000"/>
            </a:avLst>
          </a:prstGeom>
          <a:solidFill>
            <a:srgbClr val="2B2013"/>
          </a:solidFill>
          <a:ln/>
        </p:spPr>
      </p:sp>
      <p:sp>
        <p:nvSpPr>
          <p:cNvPr id="14" name="Text 11"/>
          <p:cNvSpPr/>
          <p:nvPr/>
        </p:nvSpPr>
        <p:spPr>
          <a:xfrm>
            <a:off x="6949440" y="47548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$98k–$163k / yr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6949440" y="53035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at a 30–50% scheduling capture rate — every row above is a live slider in the Power BI what-if.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40080" y="6080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range, never a point: the incumbent side is measured; Phase 0 validates the model side on nine seasons of our own data.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COSTS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Break-even ~month 14 in the mid case.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828800"/>
          <a:ext cx="6675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828800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6" name="Text 3"/>
          <p:cNvSpPr/>
          <p:nvPr/>
        </p:nvSpPr>
        <p:spPr>
          <a:xfrm>
            <a:off x="8001000" y="19202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~$50k build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001000" y="221284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 person-weeks, existing team; DuckDB path, one small VM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772400" y="2898648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9" name="Text 6"/>
          <p:cNvSpPr/>
          <p:nvPr/>
        </p:nvSpPr>
        <p:spPr>
          <a:xfrm>
            <a:off x="8001000" y="299008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~$16k / yr run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01000" y="328269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FTE + Power BI Pro. US zoo: NWS weather is $0; no flight-schedule feed unless the backtest earns it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0" y="3968496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12" name="Text 9"/>
          <p:cNvSpPr/>
          <p:nvPr/>
        </p:nvSpPr>
        <p:spPr>
          <a:xfrm>
            <a:off x="8001000" y="405993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~month 14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001000" y="435254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case (~$130k/yr captured, net of run cost)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772400" y="5038344"/>
            <a:ext cx="3794760" cy="932688"/>
          </a:xfrm>
          <a:prstGeom prst="roundRect">
            <a:avLst>
              <a:gd name="adj" fmla="val 9804"/>
            </a:avLst>
          </a:prstGeom>
          <a:solidFill>
            <a:srgbClr val="F1E8D2"/>
          </a:solidFill>
          <a:ln/>
        </p:spPr>
      </p:sp>
      <p:sp>
        <p:nvSpPr>
          <p:cNvPr id="15" name="Text 12"/>
          <p:cNvSpPr/>
          <p:nvPr/>
        </p:nvSpPr>
        <p:spPr>
          <a:xfrm>
            <a:off x="8001000" y="512978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conservative case pays back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001000" y="542239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~month 23 if the model only closes a third of the gap — and if it can't beat 947 at all, Phase 0 kills it for ~$8k, not $50k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Phase 0 and shadow. Nothing else, yet.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· POC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1–4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on our own ticketing extract. Go / no-go for ~$8k of time.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7472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6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SHADOW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7588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2–5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7588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forecasts logged and scored. Ops changes nothing. Gates signed before it starts.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ASSISTED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1052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5–8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1052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Planners see the report at schedule lock, adjust freely, overrides logged.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44000" y="1965960"/>
            <a:ext cx="2606040" cy="2286000"/>
          </a:xfrm>
          <a:prstGeom prst="roundRect">
            <a:avLst>
              <a:gd name="adj" fmla="val 4000"/>
            </a:avLst>
          </a:prstGeom>
          <a:solidFill>
            <a:srgbClr val="F1E8D2"/>
          </a:solidFill>
          <a:ln/>
        </p:spPr>
      </p:sp>
      <p:sp>
        <p:nvSpPr>
          <p:cNvPr id="17" name="Text 15"/>
          <p:cNvSpPr/>
          <p:nvPr/>
        </p:nvSpPr>
        <p:spPr>
          <a:xfrm>
            <a:off x="9345168" y="2148840"/>
            <a:ext cx="2203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INTEGRATED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45168" y="2468880"/>
            <a:ext cx="220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9+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45168" y="2788920"/>
            <a:ext cx="22037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seeded from the forecast; manager keeps override; reversion gates active.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663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2B2013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" y="4846320"/>
            <a:ext cx="10268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kill point is priced.  </a:t>
            </a:r>
            <a:pPr indent="0" marL="0">
              <a:buNone/>
            </a:pPr>
            <a:r>
              <a:rPr lang="en-US" sz="135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missed in shadow → stop; sunk cost is engineering time only, and operations never changed a thing. Funding today covers Phase 0 + shadow; the schedule template is not touched until the system beats our incumbent on our own data, at margins we sign in advance.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a cold start.</a:t>
            </a:r>
            <a:endParaRPr lang="en-US" sz="3400" dirty="0"/>
          </a:p>
        </p:txBody>
      </p:sp>
      <p:pic>
        <p:nvPicPr>
          <p:cNvPr id="4" name="Image 0" descr="/home/user/Attendance-Projections/docs/deck/assets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394960" cy="3931920"/>
          </a:xfrm>
          <a:prstGeom prst="rect">
            <a:avLst/>
          </a:prstGeom>
          <a:effectLst>
            <a:outerShdw sx="100000" sy="100000" kx="0" ky="0" algn="bl" rotWithShape="0" blurRad="152400" dist="63500" dir="5400000">
              <a:srgbClr val="6B5B3E">
                <a:alpha val="40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92240" y="20116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357" y="2125797"/>
            <a:ext cx="247254" cy="24725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7804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demo is live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7178040" y="22860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exists end-to-end today: month-, week-, and day-ahead forecasts vs actual, an 80% planning band, and a labor-budget panel priced at the month-ahead lock.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92240" y="33832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57" y="3497397"/>
            <a:ext cx="247254" cy="24725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178040" y="33375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earned its seat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7178040" y="3657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equal-weight LightGBM + Ridge + random-forest blend, picked by a reproducible 17-candidate backtest (single command; a neural net and 5 other families lost).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492240" y="4754880"/>
            <a:ext cx="475488" cy="475488"/>
          </a:xfrm>
          <a:prstGeom prst="ellipse">
            <a:avLst/>
          </a:prstGeom>
          <a:solidFill>
            <a:srgbClr val="B3790A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357" y="486899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178040" y="47091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production path is written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178040" y="50292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6-chapter guide in the repo: warehouse DDL, leakage-firewall feature contract, monitoring thresholds, and the Power BI DAX for every panel — reviewed for accuracy, coherence, and exec scrutiny.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BI TEAM SPECIFICALLY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lands in our stack, not beside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197" y="2171517"/>
            <a:ext cx="247254" cy="2472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native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008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+ written DAX, incl. what-if sliders for guests/staff-hour and loaded rate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517" y="2171517"/>
            <a:ext cx="247254" cy="24725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4340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mode, 1–2 refreshes/day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34340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licensing is enough; no DirectQuery, no gateway on the DuckDB/parquet path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046720" y="20574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837" y="2171517"/>
            <a:ext cx="247254" cy="24725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46720" y="26243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or DuckDB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8046720" y="30815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Single-digit MB per park-year; raw → staging → marts, idempotent loads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4008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197" y="422891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guest PII, by design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64008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counts only — fast security review, no DPIA, low vendor-risk tier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34340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7517" y="4228917"/>
            <a:ext cx="247254" cy="24725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4340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VM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434340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pipeline; scheduled jobs with quality gates and a fallback forecast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8046720" y="4114800"/>
            <a:ext cx="475488" cy="475488"/>
          </a:xfrm>
          <a:prstGeom prst="ellipse">
            <a:avLst/>
          </a:prstGeom>
          <a:solidFill>
            <a:srgbClr val="1268C8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0837" y="4228917"/>
            <a:ext cx="247254" cy="24725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046720" y="46817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forecast history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8046720" y="5138928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did we tell ops last Tuesday?” is a query, not an argument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NOT CLAIMING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B201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caveats, before anyone else finds them.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side is provisional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480560" y="196596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incumbent MAE (947) is measured on our own history; the 450 target is not yet — the demo runs on synthetic data. Phase 0 validates the model on our nine seasons before gates are set.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is still cash-negative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480560" y="30175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start ~month 9; mid-case break-even lands early in year 2. If Phase 0 says the 450 target is fantasy, we stop at the kill point having spent engineering time only.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0690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feature arrives late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80560" y="406908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Advance-booking snapshots start accumulating on day one and mature around month 10; shadow is judged without them, and the model only improves after the gates pass.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120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Month-ahead is the hardest horizon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512064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weather is knowable 30 days out, so the month-ahead model runs on calendar, seasonality, bookings, and flight schedules alone — its MAE will sit above the week-ahead model's. The 450 target is judged at this horizon because that is where labor locks.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61722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24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breaks happen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480560" y="617220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closure or a viral season breaks any model. Built in: drift monitoring, a same-weekday fallback that always publishes, and band logic that discards broken-regime history.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Forecasting — BI review</a:t>
            </a:r>
            <a:pPr indent="0" marL="0">
              <a:buNone/>
            </a:pPr>
            <a:r>
              <a:rPr lang="en-US" sz="9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20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379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Phase 0: four weeks, our own data, a go/no-go with evidence.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794760"/>
            <a:ext cx="9692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ticketing extract — 10/2017 to 7/2026, nearly nine seasons of daily admissions; no integrations, no vendors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backtest re-run on our numbers: model vs our rule of thumb, out-of-fold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measured accuracy delta and a re-priced ROI table — then, and only then, the shadow decision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56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Demo, guide, and this deck:  </a:t>
            </a:r>
            <a:pPr indent="0" marL="0">
              <a:buNone/>
            </a:pPr>
            <a:r>
              <a:rPr lang="en-US" sz="1200" dirty="0">
                <a:solidFill>
                  <a:srgbClr val="D8C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github.com/lmansf/Attendance-Projections  ·  docs/production-guide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2026-08-26T19:38:08Z</dcterms:created>
  <dcterms:modified xsi:type="dcterms:W3CDTF">2026-08-26T19:38:08Z</dcterms:modified>
</cp:coreProperties>
</file>