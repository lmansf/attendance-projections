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Mid case (450 MAE, 40% capture)</c:v>
                </c:pt>
              </c:strCache>
            </c:strRef>
          </c:tx>
          <c:spPr>
            <a:solidFill>
              <a:srgbClr val="1268C8"/>
            </a:solidFill>
            <a:ln w="38100" cap="flat">
              <a:solidFill>
                <a:srgbClr val="1268C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268C8"/>
              </a:solidFill>
              <a:ln w="9525" cap="flat">
                <a:solidFill>
                  <a:srgbClr val="1268C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6</c:v>
                  </c:pt>
                  <c:pt idx="2">
                    <c:v>12</c:v>
                  </c:pt>
                  <c:pt idx="3">
                    <c:v>18</c:v>
                  </c:pt>
                  <c:pt idx="4">
                    <c:v>24</c:v>
                  </c:pt>
                  <c:pt idx="5">
                    <c:v>30</c:v>
                  </c:pt>
                  <c:pt idx="6">
                    <c:v>36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-50</c:v>
                </c:pt>
                <c:pt idx="2">
                  <c:v>-25</c:v>
                </c:pt>
                <c:pt idx="3">
                  <c:v>24</c:v>
                </c:pt>
                <c:pt idx="4">
                  <c:v>73</c:v>
                </c:pt>
                <c:pt idx="5">
                  <c:v>122</c:v>
                </c:pt>
                <c:pt idx="6">
                  <c:v>172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Conservative (model only reaches 650 MAE, 30%)</c:v>
                </c:pt>
              </c:strCache>
            </c:strRef>
          </c:tx>
          <c:spPr>
            <a:solidFill>
              <a:srgbClr val="B3790A"/>
            </a:solidFill>
            <a:ln w="38100" cap="flat">
              <a:solidFill>
                <a:srgbClr val="B3790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3790A"/>
              </a:solidFill>
              <a:ln w="9525" cap="flat">
                <a:solidFill>
                  <a:srgbClr val="B3790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6</c:v>
                  </c:pt>
                  <c:pt idx="2">
                    <c:v>12</c:v>
                  </c:pt>
                  <c:pt idx="3">
                    <c:v>18</c:v>
                  </c:pt>
                  <c:pt idx="4">
                    <c:v>24</c:v>
                  </c:pt>
                  <c:pt idx="5">
                    <c:v>30</c:v>
                  </c:pt>
                  <c:pt idx="6">
                    <c:v>36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-50</c:v>
                </c:pt>
                <c:pt idx="2">
                  <c:v>-41</c:v>
                </c:pt>
                <c:pt idx="3">
                  <c:v>-24</c:v>
                </c:pt>
                <c:pt idx="4">
                  <c:v>-6</c:v>
                </c:pt>
                <c:pt idx="5">
                  <c:v>12</c:v>
                </c:pt>
                <c:pt idx="6">
                  <c:v>29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75674E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75674E"/>
                    </a:solidFill>
                    <a:latin typeface="Arial"/>
                  </a:rPr>
                  <a:t>Months from funding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5674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DE6D2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75674E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75674E"/>
                    </a:solidFill>
                    <a:latin typeface="Arial"/>
                  </a:rPr>
                  <a:t>Cumulative net, $k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5674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A2F1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0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379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· FOR REVIEW — VP, BUSINESS INTELLIGENCE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forecast that pays for the schedule it writes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8C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Week-ahead attendance forecasting for staffing and ad spend — phase-gated, measured against our own incumbent before operations changes anything.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6035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demo + full production guide in repo:  </a:t>
            </a:r>
            <a:pPr indent="0" marL="0">
              <a:buNone/>
            </a:pPr>
            <a:r>
              <a:rPr lang="en-US" sz="1200" dirty="0">
                <a:solidFill>
                  <a:srgbClr val="D8C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github.com/lmansf/Attendance-Projections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379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0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Staffing 3,285 guests on a 947-guest miss.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475488" cy="475488"/>
          </a:xfrm>
          <a:prstGeom prst="ellipse">
            <a:avLst/>
          </a:prstGeom>
          <a:solidFill>
            <a:srgbClr val="1268C8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197" y="2125797"/>
            <a:ext cx="247254" cy="24725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5880" y="196596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lock ~7 days out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325880" y="2295144"/>
            <a:ext cx="5577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Rosters for our ~300 employees are set before the week is knowable.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" y="3429000"/>
            <a:ext cx="475488" cy="475488"/>
          </a:xfrm>
          <a:prstGeom prst="ellipse">
            <a:avLst/>
          </a:prstGeom>
          <a:solidFill>
            <a:srgbClr val="1268C8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97" y="3543117"/>
            <a:ext cx="247254" cy="24725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25880" y="338328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spend commits at the same horizon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325880" y="3712464"/>
            <a:ext cx="5577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Promos and media buys need soft days flagged a week early to act at all.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40080" y="4846320"/>
            <a:ext cx="475488" cy="475488"/>
          </a:xfrm>
          <a:prstGeom prst="ellipse">
            <a:avLst/>
          </a:prstGeom>
          <a:solidFill>
            <a:srgbClr val="1268C8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197" y="4960437"/>
            <a:ext cx="247254" cy="24725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25880" y="480060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miss is measured, and it is large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325880" y="5129784"/>
            <a:ext cx="5577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our own 10/2017–7/2026 history, current projections average a 947-guest daily miss (MAE) — a 29% error on a 3,285-guest average day.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7406640" y="1920240"/>
            <a:ext cx="4114800" cy="4206240"/>
          </a:xfrm>
          <a:prstGeom prst="roundRect">
            <a:avLst>
              <a:gd name="adj" fmla="val 2667"/>
            </a:avLst>
          </a:prstGeom>
          <a:solidFill>
            <a:srgbClr val="F1E8D2"/>
          </a:solidFill>
          <a:ln/>
        </p:spPr>
      </p:sp>
      <p:sp>
        <p:nvSpPr>
          <p:cNvPr id="17" name="Text 12"/>
          <p:cNvSpPr/>
          <p:nvPr/>
        </p:nvSpPr>
        <p:spPr>
          <a:xfrm>
            <a:off x="7726680" y="21945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947-guest average miss costs, daily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7726680" y="274320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24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±29%</a:t>
            </a:r>
            <a:endParaRPr lang="en-US" sz="5400" dirty="0"/>
          </a:p>
        </p:txBody>
      </p:sp>
      <p:sp>
        <p:nvSpPr>
          <p:cNvPr id="19" name="Text 14"/>
          <p:cNvSpPr/>
          <p:nvPr/>
        </p:nvSpPr>
        <p:spPr>
          <a:xfrm>
            <a:off x="7726680" y="3520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error rate — measured, not guessed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7726680" y="41148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~95 staff-hours</a:t>
            </a:r>
            <a:endParaRPr lang="en-US" sz="2800" dirty="0"/>
          </a:p>
        </p:txBody>
      </p:sp>
      <p:sp>
        <p:nvSpPr>
          <p:cNvPr id="21" name="Text 16"/>
          <p:cNvSpPr/>
          <p:nvPr/>
        </p:nvSpPr>
        <p:spPr>
          <a:xfrm>
            <a:off x="7726680" y="466344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 against the wrong number every day — roughly twelve 8-hour shifts (at ~10 guests served per scalable staff-hour, our one estimated input)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Forecasting — BI review</a:t>
            </a:r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379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VALUE, IN OUR NUMBERS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0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Halving the miss: ~$86k–$143k a year.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53949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34440"/>
                <a:gridCol w="16916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7567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Assumption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7567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7567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daily attendance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measured, from ticketing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Incumbent MAE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947 guests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measured, 10/2017–7/2026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MAE (target)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 guests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24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— Phase 0 validates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Guests / scalable staff-hour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24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 — to confirm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Loaded cost / staff-hour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 wage + ~20% load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days / year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calendar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rate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30–50%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 shifts, fixed posts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675120" y="19202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26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497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9189720" y="19659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mis-forecast guests per day (947 → 450)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675120" y="25420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26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hrs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9189720" y="25877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staff-hours re-aimed daily (÷ 10 guests/staff-hour)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675120" y="316382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26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$895 / day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9189720" y="3209544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$18 loaded rate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6675120" y="378561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26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~$286k / yr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9189720" y="3831336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misallocation removed (× 320 days)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675120" y="4572000"/>
            <a:ext cx="4892040" cy="1371600"/>
          </a:xfrm>
          <a:prstGeom prst="roundRect">
            <a:avLst>
              <a:gd name="adj" fmla="val 8000"/>
            </a:avLst>
          </a:prstGeom>
          <a:solidFill>
            <a:srgbClr val="2B2013"/>
          </a:solidFill>
          <a:ln/>
        </p:spPr>
      </p:sp>
      <p:sp>
        <p:nvSpPr>
          <p:cNvPr id="14" name="Text 11"/>
          <p:cNvSpPr/>
          <p:nvPr/>
        </p:nvSpPr>
        <p:spPr>
          <a:xfrm>
            <a:off x="6949440" y="47548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$86k–$143k / yr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6949440" y="53035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8C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at a 30–50% scheduling capture rate — every row above is a live slider in the Power BI what-if.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640080" y="6080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range, never a point: the incumbent side is measured; Phase 0 validates the model side on nine seasons of our own data.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Forecasting — BI review</a:t>
            </a:r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379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OF COSTS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0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Break-even ~month 15 in the mid case.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828800"/>
          <a:ext cx="66751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828800"/>
            <a:ext cx="3794760" cy="932688"/>
          </a:xfrm>
          <a:prstGeom prst="roundRect">
            <a:avLst>
              <a:gd name="adj" fmla="val 9804"/>
            </a:avLst>
          </a:prstGeom>
          <a:solidFill>
            <a:srgbClr val="F1E8D2"/>
          </a:solidFill>
          <a:ln/>
        </p:spPr>
      </p:sp>
      <p:sp>
        <p:nvSpPr>
          <p:cNvPr id="6" name="Text 3"/>
          <p:cNvSpPr/>
          <p:nvPr/>
        </p:nvSpPr>
        <p:spPr>
          <a:xfrm>
            <a:off x="8001000" y="19202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~$50k build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001000" y="2212848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8–12 person-weeks, existing team; DuckDB path, one small VM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772400" y="2898648"/>
            <a:ext cx="3794760" cy="932688"/>
          </a:xfrm>
          <a:prstGeom prst="roundRect">
            <a:avLst>
              <a:gd name="adj" fmla="val 9804"/>
            </a:avLst>
          </a:prstGeom>
          <a:solidFill>
            <a:srgbClr val="F1E8D2"/>
          </a:solidFill>
          <a:ln/>
        </p:spPr>
      </p:sp>
      <p:sp>
        <p:nvSpPr>
          <p:cNvPr id="9" name="Text 6"/>
          <p:cNvSpPr/>
          <p:nvPr/>
        </p:nvSpPr>
        <p:spPr>
          <a:xfrm>
            <a:off x="8001000" y="299008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~$16k / yr run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001000" y="3282696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 FTE + Power BI Pro. US park: NWS weather is $0; no flight-schedule feed unless the backtest earns it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772400" y="3968496"/>
            <a:ext cx="3794760" cy="932688"/>
          </a:xfrm>
          <a:prstGeom prst="roundRect">
            <a:avLst>
              <a:gd name="adj" fmla="val 9804"/>
            </a:avLst>
          </a:prstGeom>
          <a:solidFill>
            <a:srgbClr val="F1E8D2"/>
          </a:solidFill>
          <a:ln/>
        </p:spPr>
      </p:sp>
      <p:sp>
        <p:nvSpPr>
          <p:cNvPr id="12" name="Text 9"/>
          <p:cNvSpPr/>
          <p:nvPr/>
        </p:nvSpPr>
        <p:spPr>
          <a:xfrm>
            <a:off x="8001000" y="405993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~month 15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001000" y="4352544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 case (~$114k/yr captured, net of run cost)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772400" y="5038344"/>
            <a:ext cx="3794760" cy="932688"/>
          </a:xfrm>
          <a:prstGeom prst="roundRect">
            <a:avLst>
              <a:gd name="adj" fmla="val 9804"/>
            </a:avLst>
          </a:prstGeom>
          <a:solidFill>
            <a:srgbClr val="F1E8D2"/>
          </a:solidFill>
          <a:ln/>
        </p:spPr>
      </p:sp>
      <p:sp>
        <p:nvSpPr>
          <p:cNvPr id="15" name="Text 12"/>
          <p:cNvSpPr/>
          <p:nvPr/>
        </p:nvSpPr>
        <p:spPr>
          <a:xfrm>
            <a:off x="8001000" y="512978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conservative case pays back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001000" y="5422392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~month 26 if the model only closes a third of the gap — and if it can't beat 947 at all, Phase 0 kills it for ~$8k, not $50k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Forecasting — BI review</a:t>
            </a:r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379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0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 Phase 0 and shadow. Nothing else, yet.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2606040" cy="2286000"/>
          </a:xfrm>
          <a:prstGeom prst="roundRect">
            <a:avLst>
              <a:gd name="adj" fmla="val 4000"/>
            </a:avLst>
          </a:prstGeom>
          <a:solidFill>
            <a:srgbClr val="F1E8D2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2148840"/>
            <a:ext cx="2203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6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· POC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41248" y="2468880"/>
            <a:ext cx="2203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wks 1–4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41248" y="2788920"/>
            <a:ext cx="22037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 on our own ticketing extract. Go / no-go for ~$8k of time.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74720" y="1965960"/>
            <a:ext cx="2606040" cy="2286000"/>
          </a:xfrm>
          <a:prstGeom prst="roundRect">
            <a:avLst>
              <a:gd name="adj" fmla="val 4000"/>
            </a:avLst>
          </a:prstGeom>
          <a:solidFill>
            <a:srgbClr val="F1E8D2"/>
          </a:solidFill>
          <a:ln/>
        </p:spPr>
      </p:sp>
      <p:sp>
        <p:nvSpPr>
          <p:cNvPr id="9" name="Text 7"/>
          <p:cNvSpPr/>
          <p:nvPr/>
        </p:nvSpPr>
        <p:spPr>
          <a:xfrm>
            <a:off x="3675888" y="2148840"/>
            <a:ext cx="2203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6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SHADOW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675888" y="2468880"/>
            <a:ext cx="2203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2–5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75888" y="2788920"/>
            <a:ext cx="22037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forecasts logged and scored. Ops changes nothing. Gates signed before it starts.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09360" y="1965960"/>
            <a:ext cx="2606040" cy="2286000"/>
          </a:xfrm>
          <a:prstGeom prst="roundRect">
            <a:avLst>
              <a:gd name="adj" fmla="val 4000"/>
            </a:avLst>
          </a:prstGeom>
          <a:solidFill>
            <a:srgbClr val="F1E8D2"/>
          </a:solidFill>
          <a:ln/>
        </p:spPr>
      </p:sp>
      <p:sp>
        <p:nvSpPr>
          <p:cNvPr id="13" name="Text 11"/>
          <p:cNvSpPr/>
          <p:nvPr/>
        </p:nvSpPr>
        <p:spPr>
          <a:xfrm>
            <a:off x="6510528" y="2148840"/>
            <a:ext cx="2203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79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ASSISTED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10528" y="2468880"/>
            <a:ext cx="2203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5–8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10528" y="2788920"/>
            <a:ext cx="22037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Planners see the report at schedule lock, adjust freely, overrides logged.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144000" y="1965960"/>
            <a:ext cx="2606040" cy="2286000"/>
          </a:xfrm>
          <a:prstGeom prst="roundRect">
            <a:avLst>
              <a:gd name="adj" fmla="val 4000"/>
            </a:avLst>
          </a:prstGeom>
          <a:solidFill>
            <a:srgbClr val="F1E8D2"/>
          </a:solidFill>
          <a:ln/>
        </p:spPr>
      </p:sp>
      <p:sp>
        <p:nvSpPr>
          <p:cNvPr id="17" name="Text 15"/>
          <p:cNvSpPr/>
          <p:nvPr/>
        </p:nvSpPr>
        <p:spPr>
          <a:xfrm>
            <a:off x="9345168" y="2148840"/>
            <a:ext cx="2203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79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INTEGRATED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345168" y="2468880"/>
            <a:ext cx="2203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9+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345168" y="2788920"/>
            <a:ext cx="22037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seeded from the forecast; manager keeps override; reversion gates active.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663440"/>
            <a:ext cx="10908792" cy="1234440"/>
          </a:xfrm>
          <a:prstGeom prst="roundRect">
            <a:avLst>
              <a:gd name="adj" fmla="val 8889"/>
            </a:avLst>
          </a:prstGeom>
          <a:solidFill>
            <a:srgbClr val="2B2013"/>
          </a:solidFill>
          <a:ln/>
        </p:spPr>
      </p:sp>
      <p:sp>
        <p:nvSpPr>
          <p:cNvPr id="21" name="Text 19"/>
          <p:cNvSpPr/>
          <p:nvPr/>
        </p:nvSpPr>
        <p:spPr>
          <a:xfrm>
            <a:off x="960120" y="4846320"/>
            <a:ext cx="10268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kill point is priced.  </a:t>
            </a:r>
            <a:pPr indent="0" marL="0">
              <a:buNone/>
            </a:pPr>
            <a:r>
              <a:rPr lang="en-US" sz="1350" dirty="0">
                <a:solidFill>
                  <a:srgbClr val="D8C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missed in shadow → stop; sunk cost is engineering time only, and operations never changed a thing. Funding today covers Phase 0 + shadow; the schedule template is not touched until the system beats our incumbent on our own data, at margins we sign in advance.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Forecasting — BI review</a:t>
            </a:r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379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DE-RISKED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0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 not a cold start.</a:t>
            </a:r>
            <a:endParaRPr lang="en-US" sz="3400" dirty="0"/>
          </a:p>
        </p:txBody>
      </p:sp>
      <p:pic>
        <p:nvPicPr>
          <p:cNvPr id="4" name="Image 0" descr="/home/user/Attendance-Projections/docs/deck/assets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20240"/>
            <a:ext cx="5394960" cy="3931920"/>
          </a:xfrm>
          <a:prstGeom prst="rect">
            <a:avLst/>
          </a:prstGeom>
          <a:effectLst>
            <a:outerShdw sx="100000" sy="100000" kx="0" ky="0" algn="bl" rotWithShape="0" blurRad="152400" dist="63500" dir="5400000">
              <a:srgbClr val="6B5B3E">
                <a:alpha val="40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6492240" y="2011680"/>
            <a:ext cx="475488" cy="475488"/>
          </a:xfrm>
          <a:prstGeom prst="ellipse">
            <a:avLst/>
          </a:prstGeom>
          <a:solidFill>
            <a:srgbClr val="B3790A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357" y="2125797"/>
            <a:ext cx="247254" cy="24725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178040" y="1965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demo is live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7178040" y="228600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exists end-to-end today: forecast vs actual, an 80% planning band, and the labor-budget panel that converts misses to dollars.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492240" y="3383280"/>
            <a:ext cx="475488" cy="475488"/>
          </a:xfrm>
          <a:prstGeom prst="ellipse">
            <a:avLst/>
          </a:prstGeom>
          <a:solidFill>
            <a:srgbClr val="B3790A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6357" y="3497397"/>
            <a:ext cx="247254" cy="24725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178040" y="33375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earned its seat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7178040" y="365760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equal-weight LightGBM + Ridge + random-forest blend, picked by a reproducible 17-candidate backtest (single command; a neural net and 5 other families lost).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6492240" y="4754880"/>
            <a:ext cx="475488" cy="475488"/>
          </a:xfrm>
          <a:prstGeom prst="ellipse">
            <a:avLst/>
          </a:prstGeom>
          <a:solidFill>
            <a:srgbClr val="B3790A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357" y="4868997"/>
            <a:ext cx="247254" cy="247254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178040" y="47091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production path is written</a:t>
            </a:r>
            <a:endParaRPr lang="en-US" sz="1500" dirty="0"/>
          </a:p>
        </p:txBody>
      </p:sp>
      <p:sp>
        <p:nvSpPr>
          <p:cNvPr id="16" name="Text 10"/>
          <p:cNvSpPr/>
          <p:nvPr/>
        </p:nvSpPr>
        <p:spPr>
          <a:xfrm>
            <a:off x="7178040" y="502920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6-chapter guide in the repo: warehouse DDL, leakage-firewall feature contract, monitoring thresholds, and the Power BI DAX for every panel — reviewed for accuracy, coherence, and exec scrutiny.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Forecasting — BI review</a:t>
            </a:r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379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BI TEAM SPECIFICALLY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0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lands in our stack, not beside it.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75488" cy="475488"/>
          </a:xfrm>
          <a:prstGeom prst="ellipse">
            <a:avLst/>
          </a:prstGeom>
          <a:solidFill>
            <a:srgbClr val="1268C8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197" y="2171517"/>
            <a:ext cx="247254" cy="24725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262432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native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640080" y="3081528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+ written DAX, incl. what-if sliders for guests/staff-hour and loaded rate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343400" y="2057400"/>
            <a:ext cx="475488" cy="475488"/>
          </a:xfrm>
          <a:prstGeom prst="ellipse">
            <a:avLst/>
          </a:prstGeom>
          <a:solidFill>
            <a:srgbClr val="1268C8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7517" y="2171517"/>
            <a:ext cx="247254" cy="24725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343400" y="262432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mode, 1–2 refreshes/day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4343400" y="3081528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licensing is enough; no DirectQuery, no gateway on the DuckDB/parquet path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8046720" y="2057400"/>
            <a:ext cx="475488" cy="475488"/>
          </a:xfrm>
          <a:prstGeom prst="ellipse">
            <a:avLst/>
          </a:prstGeom>
          <a:solidFill>
            <a:srgbClr val="1268C8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0837" y="2171517"/>
            <a:ext cx="247254" cy="24725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046720" y="262432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or DuckDB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8046720" y="3081528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Single-digit MB per park-year; raw → staging → marts, idempotent loads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640080" y="4114800"/>
            <a:ext cx="475488" cy="475488"/>
          </a:xfrm>
          <a:prstGeom prst="ellipse">
            <a:avLst/>
          </a:prstGeom>
          <a:solidFill>
            <a:srgbClr val="1268C8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197" y="4228917"/>
            <a:ext cx="247254" cy="24725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468172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guest PII, by design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640080" y="5138928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counts only — fast security review, no DPIA, low vendor-risk tier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4343400" y="4114800"/>
            <a:ext cx="475488" cy="475488"/>
          </a:xfrm>
          <a:prstGeom prst="ellipse">
            <a:avLst/>
          </a:prstGeom>
          <a:solidFill>
            <a:srgbClr val="1268C8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57517" y="4228917"/>
            <a:ext cx="247254" cy="247254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4343400" y="468172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small VM</a:t>
            </a:r>
            <a:endParaRPr lang="en-US" sz="1450" dirty="0"/>
          </a:p>
        </p:txBody>
      </p:sp>
      <p:sp>
        <p:nvSpPr>
          <p:cNvPr id="23" name="Text 16"/>
          <p:cNvSpPr/>
          <p:nvPr/>
        </p:nvSpPr>
        <p:spPr>
          <a:xfrm>
            <a:off x="4343400" y="5138928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entire pipeline; scheduled jobs with quality gates and a fallback forecast</a:t>
            </a:r>
            <a:endParaRPr lang="en-US" sz="1150" dirty="0"/>
          </a:p>
        </p:txBody>
      </p:sp>
      <p:sp>
        <p:nvSpPr>
          <p:cNvPr id="24" name="Shape 17"/>
          <p:cNvSpPr/>
          <p:nvPr/>
        </p:nvSpPr>
        <p:spPr>
          <a:xfrm>
            <a:off x="8046720" y="4114800"/>
            <a:ext cx="475488" cy="475488"/>
          </a:xfrm>
          <a:prstGeom prst="ellipse">
            <a:avLst/>
          </a:prstGeom>
          <a:solidFill>
            <a:srgbClr val="1268C8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60837" y="4228917"/>
            <a:ext cx="247254" cy="247254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8046720" y="468172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forecast history</a:t>
            </a:r>
            <a:endParaRPr lang="en-US" sz="1450" dirty="0"/>
          </a:p>
        </p:txBody>
      </p:sp>
      <p:sp>
        <p:nvSpPr>
          <p:cNvPr id="27" name="Text 19"/>
          <p:cNvSpPr/>
          <p:nvPr/>
        </p:nvSpPr>
        <p:spPr>
          <a:xfrm>
            <a:off x="8046720" y="5138928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did we tell ops last Tuesday?” is a query, not an argument</a:t>
            </a:r>
            <a:endParaRPr lang="en-US" sz="1150" dirty="0"/>
          </a:p>
        </p:txBody>
      </p:sp>
      <p:sp>
        <p:nvSpPr>
          <p:cNvPr id="28" name="Text 2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Forecasting — BI review</a:t>
            </a:r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24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ARE NOT CLAIMING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0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caveats, before anyone else finds them.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24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model's side is provisional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4480560" y="196596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incumbent MAE (947) is measured on our own history; the 450 target is not yet — the demo runs on synthetic data. Phase 0 validates the model on our nine seasons before gates are set.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301752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24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is still cash-negative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4480560" y="301752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start ~month 9; mid-case break-even lands mid-year-2. If Phase 0 says the 450 target is fantasy, we stop at the kill point having spent engineering time only.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406908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24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feature arrives late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480560" y="406908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Advance-booking snapshots start accumulating on day one and mature around month 10; shadow is judged without them, and the model only improves after the gates pass.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512064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24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Regime breaks happen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480560" y="512064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closure or a viral season breaks any model. Built in: drift monitoring, a same-weekday fallback that always publishes, and band logic that discards broken-regime history.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Forecasting — BI review</a:t>
            </a:r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B20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55448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379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TODAY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01168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 Phase 0: four weeks, our own data, a go/no-go with evidence.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3794760"/>
            <a:ext cx="9692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8C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ticketing extract — 10/2017 to 7/2026, nearly nine seasons of daily admissions; no integrations, no vendors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8C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backtest re-run on our numbers: model vs our rule of thumb, out-of-fold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8C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a measured accuracy delta and a re-priced ROI table — then, and only then, the shadow decision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59893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Demo, guide, and this deck:  </a:t>
            </a:r>
            <a:pPr indent="0" marL="0">
              <a:buNone/>
            </a:pPr>
            <a:r>
              <a:rPr lang="en-US" sz="1200" dirty="0">
                <a:solidFill>
                  <a:srgbClr val="D8C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github.com/lmansf/Attendance-Projections  ·  docs/production-guide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2026-08-26T18:55:47Z</dcterms:created>
  <dcterms:modified xsi:type="dcterms:W3CDTF">2026-08-26T18:55:47Z</dcterms:modified>
</cp:coreProperties>
</file>